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-1371600"/>
            <a:ext cx="6858000" cy="6858000"/>
          </a:xfrm>
          <a:prstGeom prst="ellipse">
            <a:avLst/>
          </a:prstGeom>
          <a:solidFill>
            <a:srgbClr val="003322">
              <a:alpha val="40000"/>
            </a:srgbClr>
          </a:solidFill>
          <a:ln w="12700">
            <a:solidFill>
              <a:srgbClr val="0033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-548640"/>
            <a:ext cx="4572000" cy="4572000"/>
          </a:xfrm>
          <a:prstGeom prst="ellipse">
            <a:avLst/>
          </a:prstGeom>
          <a:solidFill>
            <a:srgbClr val="00E676">
              <a:alpha val="12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960120"/>
            <a:ext cx="530352" cy="5303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1536192"/>
            <a:ext cx="53035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143000" y="10058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EduOS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02920" y="18288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Operating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How India's Next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 Grows Up.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502920" y="422452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Learns.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502920" y="4983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education · Web3 credentials · Real-world careers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inside partner schools across India.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778240" y="1280160"/>
            <a:ext cx="2926080" cy="14173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961120" y="14173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250M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961120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children in India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778240" y="2852928"/>
            <a:ext cx="2926080" cy="14173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961120" y="29900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$300B+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8961120" y="3584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K-12 edtech TAM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78240" y="4425696"/>
            <a:ext cx="2926080" cy="14173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961120" y="456285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8961120" y="5157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schools in Year 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086307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9765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972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Children Are Trapped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Broken System.</a:t>
            </a: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457200" y="2084832"/>
            <a:ext cx="3703320" cy="43434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2084832"/>
            <a:ext cx="37033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22860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Free Time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58368" y="2816352"/>
            <a:ext cx="3337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7am–2pm · Tuition 4pm–7pm · Homework until 10pm. No time for sport, music, or discovering real interests. Childhood stolen by a broken system.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370832" y="2084832"/>
            <a:ext cx="3703320" cy="43434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70832" y="2084832"/>
            <a:ext cx="3703320" cy="54864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2860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One-Size-Fits-All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4572000" y="2816352"/>
            <a:ext cx="3337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students. One pace. One textbook. A child who loves cricket learns fractions the same way as one who hates maths. Every teacher knows this fails. Nobody fixes it.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284464" y="2084832"/>
            <a:ext cx="3703320" cy="43434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84464" y="2084832"/>
            <a:ext cx="3703320" cy="54864"/>
          </a:xfrm>
          <a:prstGeom prst="rect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5632" y="22860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Real-World Exposure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485632" y="2816352"/>
            <a:ext cx="3337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years in school. First industry contact at 22. Career chosen on a guess — often the parent's guess. 60% of engineering graduates unemployable in Year 1.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₹2,00,000/year tuition industry exists because schools failed to personalise. We eliminate tuition by fixing the root cause — inside the school itself.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166774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10570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Every Layer of a Child's Growth.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1481328"/>
            <a:ext cx="5650992" cy="1581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1481328"/>
            <a:ext cx="64008" cy="15819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1645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07008" y="161848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Academic Engine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07008" y="20482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curriculum per child. Quiz-adaptive. No tuitions needed. Board syllabus followed exactly.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27648" y="1481328"/>
            <a:ext cx="5650992" cy="1581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27648" y="1481328"/>
            <a:ext cx="64008" cy="158191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1645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77456" y="161848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Learning Network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77456" y="20482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sessions + industry experts teaching inside the curriculum in real-time small groups.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200400"/>
            <a:ext cx="5650992" cy="1581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3200400"/>
            <a:ext cx="64008" cy="1581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7008" y="333756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Network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07008" y="37673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Basketball, music, robotics — bookable via partner colleges and academies through the app.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27648" y="3200400"/>
            <a:ext cx="5650992" cy="1581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27648" y="3200400"/>
            <a:ext cx="64008" cy="1581912"/>
          </a:xfrm>
          <a:prstGeom prst="rect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28816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77456" y="333756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Gateway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077456" y="37673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workshops and internships at real companies from Class 9. Full safety infrastructure.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919472"/>
            <a:ext cx="5650992" cy="1581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7200" y="4919472"/>
            <a:ext cx="64008" cy="1581912"/>
          </a:xfrm>
          <a:prstGeom prst="rect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" y="50840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207008" y="505663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Intelligence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207008" y="5486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pathway built from 6 years of academic + activity behavioral data. No more guesswork.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327648" y="4919472"/>
            <a:ext cx="5650992" cy="1581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327648" y="4919472"/>
            <a:ext cx="64008" cy="158191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8816" y="50840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077456" y="505663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Whole Child Profile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7077456" y="5486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on-chain SBT credential: board results + skills + activities + verified internships.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166774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10570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Trojan Horse Strategy.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457200" y="12344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build a school from scratch. We make existing trusted schools 10× smarter — from inside.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1828800"/>
            <a:ext cx="2788920" cy="4617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1828800"/>
            <a:ext cx="278892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201168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58368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Schools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" y="33375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private schools. Free pilot. AI platform inside. Board results improve. Teachers empowered. Daily parent AI reports. Zero cost to school.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255264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410712" y="1828800"/>
            <a:ext cx="2788920" cy="4617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10712" y="1828800"/>
            <a:ext cx="2788920" cy="54864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201168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361188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School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611880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11880" y="33375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digital school under partner board affiliation. NIOS/CBSE exams unchanged. Live sessions + industry expert classes added.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08776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364224" y="1828800"/>
            <a:ext cx="2788920" cy="4617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64224" y="1828800"/>
            <a:ext cx="27889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201168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6565392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Marketplace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65392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18–36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65392" y="33375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opens. Any expert uploads a teaching agent. Students earn tokens. Creators earn 70% revenue share.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62288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317736" y="1828800"/>
            <a:ext cx="2788920" cy="4617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317736" y="1828800"/>
            <a:ext cx="2788920" cy="54864"/>
          </a:xfrm>
          <a:prstGeom prst="rect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18904" y="201168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6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9518904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School-in-a-Box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518904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518904" y="33375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full platform to 50+ schools. ₹5–15L setup + ₹300/student/month. Capital-efficient national expansion.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649578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15398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Largest Underserved Education Market on Earth.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5943600" y="1261872"/>
            <a:ext cx="5852160" cy="4974336"/>
          </a:xfrm>
          <a:prstGeom prst="ellipse">
            <a:avLst/>
          </a:prstGeom>
          <a:solidFill>
            <a:srgbClr val="050F1F"/>
          </a:solidFill>
          <a:ln w="12700">
            <a:solidFill>
              <a:srgbClr val="050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1883664"/>
            <a:ext cx="4389120" cy="3730752"/>
          </a:xfrm>
          <a:prstGeom prst="ellipse">
            <a:avLst/>
          </a:prstGeom>
          <a:solidFill>
            <a:srgbClr val="062035"/>
          </a:solidFill>
          <a:ln w="12700">
            <a:solidFill>
              <a:srgbClr val="0620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2505456"/>
            <a:ext cx="2926080" cy="2487168"/>
          </a:xfrm>
          <a:prstGeom prst="ellipse">
            <a:avLst/>
          </a:prstGeom>
          <a:solidFill>
            <a:srgbClr val="083050"/>
          </a:solidFill>
          <a:ln w="12700">
            <a:solidFill>
              <a:srgbClr val="08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3049524"/>
            <a:ext cx="1645920" cy="1399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547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 — Global K-12 Edtech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$300B+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2404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Indian students alone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2715768"/>
            <a:ext cx="5029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 — India Private + Coaching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₹3–5L Cr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0292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₹50K–5L per family per year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041648"/>
            <a:ext cx="5029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— Year 3 Target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₹15Cr ARR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502920" y="5056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schools · 25,000 active students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" y="5367528"/>
            <a:ext cx="5029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577840"/>
            <a:ext cx="11247120" cy="9601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5800" y="5687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Now: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011680" y="568756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 2020 mandates flexible learning · AI agents finally capable of true personalization · BYJU's collapse left 150M families with no trusted alternative · Web3 credentials create a verifiable student identity nobody else has built.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247242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11375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 by Learning. Spend on Real Life.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1389888"/>
            <a:ext cx="5440680" cy="50749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1389888"/>
            <a:ext cx="544068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$LEARN — Universal Token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368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by merit. Can never be purchased.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58368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EARN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" y="2651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 chapter quiz (≥60%)  →  25 $LEARN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" y="30175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 monthly assessment  →  100 $LEARN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8368" y="33832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Attend expert session  →  50 $LEARN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8368" y="3749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 industry workshop  →  200 $LEARN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58368" y="41148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7-day learning streak  →  30 $LEARN bonus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8368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SPEND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48280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Unlock premium AI agent features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58368" y="51755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Redeem for 1:1 industry mentor session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58368" y="55229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Boost career profile visibility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58368" y="58704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Platform-wide academic reputation score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91072" y="1389888"/>
            <a:ext cx="5440680" cy="50749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91072" y="1389888"/>
            <a:ext cx="54406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157276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$[SCHOOL] — School Meme Token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6492240" y="1975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 school gets its own branded meme token.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49224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EARN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26517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Physical school attendance  →  Daily tokens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492240" y="3017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 class competition  →  Bonus tokens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49224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Teacher-awarded for excellence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492240" y="3749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Inter-school challenge wins  →  Multiplier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49224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SPEND (IN SCHOOL)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92240" y="442569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 tokens  →  Extra playground period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92240" y="468172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100 tokens  →  Borrow sports equipment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92240" y="493776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200 tokens  →  Robotics lab access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240" y="519379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300 tokens  →  Priority expert session seat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92240" y="544982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500 tokens  →  On-chain School Legend SBT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492240" y="570585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1000 tokens  →  Private industry expert class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1170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Credentials = Soulbound Tokens (SBTs) on BNB Chain — non-transferable, on-chain, permanently verifiable. Cannot be bought, faked, or sold.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327709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12179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at Every Layer. Profitable from Year 2.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1481328"/>
            <a:ext cx="3730752" cy="2240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1481328"/>
            <a:ext cx="3730752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168249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261872" y="1682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SaaS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61872" y="2075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₹200–500/student/mo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253288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schools × 500 students = ₹4–10L/mo from Day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1481328"/>
            <a:ext cx="3730752" cy="2240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89120" y="1481328"/>
            <a:ext cx="3730752" cy="64008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168249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193792" y="1682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Subscription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193792" y="2075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₹1,500–3,500/child/mo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0" y="253288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one subject tuition. Full platform access.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1040" y="1481328"/>
            <a:ext cx="3730752" cy="2240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21040" y="1481328"/>
            <a:ext cx="3730752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168249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125712" y="1682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Franchise License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125712" y="2075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₹5–15L + ₹300/student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03920" y="253288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schools × 500 students = ₹75L/mo recurring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904488"/>
            <a:ext cx="3730752" cy="2240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7200" y="3904488"/>
            <a:ext cx="3730752" cy="64008"/>
          </a:xfrm>
          <a:prstGeom prst="rect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10565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261872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Marketplace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261872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 platform cut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40080" y="495604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creators × avg ₹5K/mo = ₹1.5Cr/mo platform revenue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389120" y="3904488"/>
            <a:ext cx="3730752" cy="2240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389120" y="3904488"/>
            <a:ext cx="3730752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410565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193792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Partnerships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193792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₹50K–5L/workshop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572000" y="495604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pay for structured early talent pipeline access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904488"/>
            <a:ext cx="3730752" cy="2240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321040" y="3904488"/>
            <a:ext cx="3730752" cy="64008"/>
          </a:xfrm>
          <a:prstGeom prst="rect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03920" y="410565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9125712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SBT Credentials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9125712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 + premium tiers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503920" y="495604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exam, internship, and skill gets minted on-chain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764438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654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3 Schools to India's Education OS.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1353312"/>
            <a:ext cx="11247120" cy="9601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1444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₹15Cr+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229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by Year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1481328"/>
            <a:ext cx="18288" cy="5943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1444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6576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licensed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1481328"/>
            <a:ext cx="18288" cy="5943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1444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25,000+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4922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52560" y="1481328"/>
            <a:ext cx="18288" cy="5943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0" y="1444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93268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creators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8368" y="3767328"/>
            <a:ext cx="10881360" cy="457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9848" y="3712464"/>
            <a:ext cx="118872" cy="11887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MVP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Four.Meme AI Sprint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4754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 9 Maths agent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BSC testnet reward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5486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demo · Proof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65576" y="3712464"/>
            <a:ext cx="118872" cy="118872"/>
          </a:xfrm>
          <a:prstGeom prst="ellipse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44368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Q1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944368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Pilots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2944368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3–4 partner schools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944368" y="4754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platform live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944368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₹4–10L/mo SaaS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944368" y="5486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500+ students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053328" y="3712464"/>
            <a:ext cx="118872" cy="1188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3212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Q3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53212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School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5532120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NIOS accreditation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532120" y="4754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Doubt sessions live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532120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Expert classes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532120" y="5486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Board exams same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750808" y="3712464"/>
            <a:ext cx="118872" cy="118872"/>
          </a:xfrm>
          <a:prstGeom prst="ellipse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Y2–3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2960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Ecosystem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8229600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 marketplace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229600" y="4754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Activity network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229600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 schools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229600" y="5486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₹15Cr ARR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086307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9765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Owns One Layer. We Own the Stack.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3145536" y="1417320"/>
            <a:ext cx="1316736" cy="4864608"/>
          </a:xfrm>
          <a:prstGeom prst="rect">
            <a:avLst/>
          </a:prstGeom>
          <a:solidFill>
            <a:srgbClr val="00E676">
              <a:alpha val="1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15087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62272" y="1508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BYJU's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59552" y="15087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Vedantu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48272" y="150876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Unacademy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1508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52560" y="1508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iDream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1947672"/>
            <a:ext cx="11247120" cy="53035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039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partner school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203911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462272" y="203911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559552" y="20391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748272" y="203911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046720" y="20391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052560" y="20391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57200" y="25694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Board-certified credentials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256946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462272" y="25694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559552" y="256946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748272" y="256946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04672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052560" y="25694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57200" y="3008376"/>
            <a:ext cx="11247120" cy="53035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0998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personalization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00400" y="309981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4462272" y="30998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559552" y="30998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748272" y="309981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046720" y="30998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9052560" y="30998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457200" y="36301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network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200400" y="36301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4462272" y="363016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5559552" y="36301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748272" y="36301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8046720" y="3630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9052560" y="3630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457200" y="4069080"/>
            <a:ext cx="11247120" cy="53035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internships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200400" y="416052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4462272" y="41605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5559552" y="41605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6748272" y="41605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804672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9052560" y="41605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457200" y="4690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credential (SBT)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200400" y="469087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4462272" y="469087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5559552" y="4690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6748272" y="46908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8046720" y="46908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9052560" y="46908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457200" y="5129784"/>
            <a:ext cx="11247120" cy="53035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52212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incentive economy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200400" y="522122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4462272" y="52212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5559552" y="52212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6748272" y="522122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8046720" y="52212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9052560" y="522122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457200" y="57515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 marketplace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200400" y="575157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7" name="Text 95"/>
          <p:cNvSpPr/>
          <p:nvPr/>
        </p:nvSpPr>
        <p:spPr>
          <a:xfrm>
            <a:off x="4462272" y="5751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8" name="Text 96"/>
          <p:cNvSpPr/>
          <p:nvPr/>
        </p:nvSpPr>
        <p:spPr>
          <a:xfrm>
            <a:off x="5559552" y="57515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6748272" y="575157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8046720" y="5751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01" name="Text 99"/>
          <p:cNvSpPr/>
          <p:nvPr/>
        </p:nvSpPr>
        <p:spPr>
          <a:xfrm>
            <a:off x="9052560" y="5751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02" name="Text 100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= partial / retrofitted AI, not AI-native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1890979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17812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Moats. None of Them Easy to Copy.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1481328"/>
            <a:ext cx="5650992" cy="2331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1481328"/>
            <a:ext cx="64008" cy="2331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16459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07008" y="162763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Inside Schools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207008" y="212140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enter through trusted institutions. Parents trust their school — not a startup. BYJU's spent ₹25,000Cr to earn that trust from scratch. We get it for free through partnerships.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27648" y="1481328"/>
            <a:ext cx="5650992" cy="2331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27648" y="1481328"/>
            <a:ext cx="64008" cy="2331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16459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77456" y="162763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6-Year Behavioral Data Moat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7077456" y="212140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quiz, activity, internship — all tracked. By Class 10 we know your child better than any counsellor. Nobody can replicate 6 years of continuous longitudinal student data.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950208"/>
            <a:ext cx="5650992" cy="2331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3950208"/>
            <a:ext cx="64008" cy="2331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114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7008" y="40965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Credential Lock-In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1207008" y="459028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Child Profile is an on-chain identity. Students don't want to lose their SBT history. Every badge and internship is permanently tied to their wallet — and our platform.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27648" y="3950208"/>
            <a:ext cx="5650992" cy="2331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27648" y="3950208"/>
            <a:ext cx="64008" cy="2331720"/>
          </a:xfrm>
          <a:prstGeom prst="rect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28816" y="4114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77456" y="40965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Marketplace Flywheel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7077456" y="459028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creators → better agents → better outcomes → more schools → more students → more creators. The App Store dynamic. Once the flywheel turns, no competitor can replicate the content diversity.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01168"/>
            <a:ext cx="764438" cy="246888"/>
          </a:xfrm>
          <a:prstGeom prst="rect">
            <a:avLst/>
          </a:prstGeom>
          <a:solidFill>
            <a:srgbClr val="00E676">
              <a:alpha val="1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19456"/>
            <a:ext cx="654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6692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Round: $500K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457200" y="137160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prove the model and raise Series A on real metrics.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1874520"/>
            <a:ext cx="5650992" cy="162763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20391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2212848" y="2039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Engineering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12848" y="24688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full-stack engineers · AI agent platform · Web3 / BNB Chain infrastructure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27648" y="1874520"/>
            <a:ext cx="5650992" cy="162763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56248" y="20391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8083296" y="2039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Partnerships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83296" y="24688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· Pilot programs · Legal contracts · NIOS accreditation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5650992" cy="162763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5800" y="382219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2212848" y="3822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&amp; Compliance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212848" y="42519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· Safety infrastructure · Regulatory navigation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27648" y="3657600"/>
            <a:ext cx="5650992" cy="162763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56248" y="382219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6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8083296" y="3822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&amp; Community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083296" y="42519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acquisition · Agent creator ecosystem seeding · Brand building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" y="5440680"/>
            <a:ext cx="1124712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5596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round unlocks: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580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3–4 schools signed + 500 students live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5508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NIOS board exam cohort completed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5800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marketplace beta with 50+ creators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355080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Fundraise Series A on proven unit economics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0" y="5486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20116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34747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0" y="4937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64008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365760"/>
            <a:ext cx="9144000" cy="6400800"/>
          </a:xfrm>
          <a:prstGeom prst="ellipse">
            <a:avLst/>
          </a:prstGeom>
          <a:solidFill>
            <a:srgbClr val="002200">
              <a:alpha val="45000"/>
            </a:srgbClr>
          </a:solidFill>
          <a:ln w="12700">
            <a:solidFill>
              <a:srgbClr val="0022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1371600"/>
            <a:ext cx="6400800" cy="4754880"/>
          </a:xfrm>
          <a:prstGeom prst="ellipse">
            <a:avLst/>
          </a:prstGeom>
          <a:solidFill>
            <a:srgbClr val="00E676">
              <a:alpha val="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10972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company is built on a simple truth.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1627632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is this: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" y="2240280"/>
            <a:ext cx="110642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child in India deserves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teacher who knows them.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914400" y="4251960"/>
            <a:ext cx="10332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built the platform that makes that possible.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3840480" y="4983480"/>
            <a:ext cx="4480560" cy="457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16636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contact@eduos.in  ·  www.eduos.in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vision. Built for 250 million.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 ·  Confidential  ·  Slide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EduOS Pitch Deck</dc:title>
  <dc:subject>PptxGenJS Presentation</dc:subject>
  <dc:creator>PptxGenJS</dc:creator>
  <cp:lastModifiedBy>PptxGenJS</cp:lastModifiedBy>
  <cp:revision>1</cp:revision>
  <dcterms:created xsi:type="dcterms:W3CDTF">2026-04-22T09:16:11Z</dcterms:created>
  <dcterms:modified xsi:type="dcterms:W3CDTF">2026-04-22T09:16:11Z</dcterms:modified>
</cp:coreProperties>
</file>